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SemiBold"/>
      <p:regular r:id="rId201314"/>
    </p:embeddedFont>
    <p:embeddedFont>
      <p:font typeface="Inter Bold"/>
      <p:regular r:id="rId201315"/>
    </p:embeddedFont>
    <p:embeddedFont>
      <p:font typeface="Inter"/>
      <p:regular r:id="rId201316"/>
    </p:embeddedFont>
    <p:embeddedFont>
      <p:font typeface="Radio Canada Medium"/>
      <p:regular r:id="rId201317"/>
    </p:embeddedFont>
    <p:embeddedFont>
      <p:font typeface="Radio Canada SemiBold"/>
      <p:regular r:id="rId201318"/>
    </p:embeddedFont>
    <p:embeddedFont>
      <p:font typeface="Radio Canada Bold"/>
      <p:regular r:id="rId201319"/>
    </p:embeddedFont>
    <p:embeddedFont>
      <p:font typeface="Radio Canada"/>
      <p:regular r:id="rId201320"/>
    </p:embeddedFont>
    <p:embeddedFont>
      <p:font typeface="Radio Canada Big 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2413000"/>
            <a:ext cx="7492813" cy="3095228"/>
          </a:xfrm>
          <a:prstGeom prst="roundRect">
            <a:avLst>
              <a:gd name="adj" fmla="val 1046"/>
            </a:avLst>
          </a:prstGeom>
          <a:solidFill>
            <a:srgbClr val="5C7080"/>
          </a:solidFill>
          <a:ln/>
        </p:spPr>
      </p:sp>
      <p:sp>
        <p:nvSpPr>
          <p:cNvPr id="3" name="Text 1"/>
          <p:cNvSpPr/>
          <p:nvPr/>
        </p:nvSpPr>
        <p:spPr>
          <a:xfrm>
            <a:off x="1015975" y="2768600"/>
            <a:ext cx="728961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100" dirty="0">
                <a:solidFill>
                  <a:srgbClr val="FFFFFF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EXECUTIVE READOUT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15975" y="3051770"/>
            <a:ext cx="6680033" cy="170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b="1" spc="-66" kern="100" dirty="0">
                <a:solidFill>
                  <a:srgbClr val="FFFFFF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Customer shopping behavior is a loyalty story with a subscription gap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15975" y="4929783"/>
            <a:ext cx="728961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3,900 purchases · customer segments · product signals · growth opportunities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5C7080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074123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Three signals should shape the next growth plan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7987" y="3739753"/>
            <a:ext cx="3488146" cy="2661047"/>
          </a:xfrm>
          <a:prstGeom prst="roundRect">
            <a:avLst>
              <a:gd name="adj" fmla="val 1217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6582" y="3968353"/>
            <a:ext cx="8433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6582" y="4270573"/>
            <a:ext cx="3030958" cy="19050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7" name="Text 5"/>
          <p:cNvSpPr/>
          <p:nvPr/>
        </p:nvSpPr>
        <p:spPr>
          <a:xfrm>
            <a:off x="736582" y="4419104"/>
            <a:ext cx="303095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Loyalty is strong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36582" y="4886424"/>
            <a:ext cx="303095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3,116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 are classified as Loyal, while only </a:t>
            </a:r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83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New.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00926" y="3739753"/>
            <a:ext cx="3488146" cy="2661047"/>
          </a:xfrm>
          <a:prstGeom prst="roundRect">
            <a:avLst>
              <a:gd name="adj" fmla="val 1217"/>
            </a:avLst>
          </a:prstGeom>
          <a:solidFill>
            <a:srgbClr val="12304A"/>
          </a:solidFill>
          <a:ln/>
        </p:spPr>
      </p:sp>
      <p:sp>
        <p:nvSpPr>
          <p:cNvPr id="10" name="Text 8"/>
          <p:cNvSpPr/>
          <p:nvPr/>
        </p:nvSpPr>
        <p:spPr>
          <a:xfrm>
            <a:off x="4529520" y="3968353"/>
            <a:ext cx="8865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29520" y="4270573"/>
            <a:ext cx="3030958" cy="19050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29520" y="4419104"/>
            <a:ext cx="3030958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Subscriptions are under-penetrated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529520" y="5233095"/>
            <a:ext cx="303095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27%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customers subscribe; </a:t>
            </a:r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73%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not.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93865" y="3739753"/>
            <a:ext cx="3488246" cy="2661047"/>
          </a:xfrm>
          <a:prstGeom prst="roundRect">
            <a:avLst>
              <a:gd name="adj" fmla="val 1217"/>
            </a:avLst>
          </a:prstGeom>
          <a:solidFill>
            <a:srgbClr val="2F6B9A"/>
          </a:solidFill>
          <a:ln/>
        </p:spPr>
      </p:sp>
      <p:sp>
        <p:nvSpPr>
          <p:cNvPr id="15" name="Text 13"/>
          <p:cNvSpPr/>
          <p:nvPr/>
        </p:nvSpPr>
        <p:spPr>
          <a:xfrm>
            <a:off x="8322459" y="3968353"/>
            <a:ext cx="8893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322459" y="4270573"/>
            <a:ext cx="3030958" cy="19050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17" name="Text 15"/>
          <p:cNvSpPr/>
          <p:nvPr/>
        </p:nvSpPr>
        <p:spPr>
          <a:xfrm>
            <a:off x="8322459" y="4419104"/>
            <a:ext cx="3031057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Discounts do not eliminate spend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22459" y="5233095"/>
            <a:ext cx="3031057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839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discount users still spent above the average purchase amount.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8000"/>
            <a:ext cx="6273643" cy="2084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analysis combines transaction data with customer and fulfillment signals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2745184"/>
            <a:ext cx="1862587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2304A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Transaction base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09585" y="3559175"/>
            <a:ext cx="1862587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437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 purchases across 18 columns and 25 products.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929360" y="2745184"/>
            <a:ext cx="1633993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2304A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Decision lenses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929360" y="3559175"/>
            <a:ext cx="1633993" cy="2817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437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Demographics, category, purchase amount, discounting, shipping, reviews, subscriptions, and frequency.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0542" y="2745184"/>
            <a:ext cx="1862686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2304A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Data preparation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020542" y="3559175"/>
            <a:ext cx="1862686" cy="2817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437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ratings were cleaned using category-level median imputation; cleaned data was loaded into PostgreSQL for SQL analysis.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721407" y="406400"/>
            <a:ext cx="447028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100" dirty="0">
                <a:solidFill>
                  <a:srgbClr val="000000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DATA FOUNDATION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21407" y="689570"/>
            <a:ext cx="4063898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Transaction, customer, and fulfillment signals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721407" y="1503561"/>
            <a:ext cx="4063898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A single analytical base connects behavior, category, shipping, and subscription patterns.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91241" y="2745184"/>
            <a:ext cx="19050" cy="3749973"/>
          </a:xfrm>
          <a:prstGeom prst="rect">
            <a:avLst/>
          </a:prstGeom>
          <a:solidFill>
            <a:srgbClr val="CBD7E0"/>
          </a:solidFill>
          <a:ln/>
        </p:spPr>
      </p:sp>
      <p:sp>
        <p:nvSpPr>
          <p:cNvPr id="14" name="Shape 12"/>
          <p:cNvSpPr/>
          <p:nvPr/>
        </p:nvSpPr>
        <p:spPr>
          <a:xfrm>
            <a:off x="4782423" y="2745184"/>
            <a:ext cx="19050" cy="3749973"/>
          </a:xfrm>
          <a:prstGeom prst="rect">
            <a:avLst/>
          </a:prstGeom>
          <a:solidFill>
            <a:srgbClr val="CBD7E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8000"/>
            <a:ext cx="11226519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Loyal customers are the foundation; subscriptions are the unlock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1718667"/>
            <a:ext cx="11226519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900" dirty="0">
                <a:solidFill>
                  <a:srgbClr val="2437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customers are already repeat buyers, but subscription adoption remains limited. The opportunity is to convert proven behavior into recurring value.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09585" y="2748955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E5A5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The customer base is dominated by Loyal customers, while subscribers are a minority.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591" y="3429000"/>
            <a:ext cx="6730832" cy="28968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5591" y="6395740"/>
            <a:ext cx="7365816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E5A5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Customer segment and subscription mix · customers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407" y="3429000"/>
            <a:ext cx="4470288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5C7080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074123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is concentrated in male customers and clothing</a:t>
            </a:r>
            <a:endParaRPr lang="en-US" sz="3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" y="2349302"/>
            <a:ext cx="6016276" cy="31335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987" y="5552678"/>
            <a:ext cx="6016276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E5A5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Revenue by gender · USD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981353" y="1724124"/>
            <a:ext cx="4600758" cy="4676676"/>
          </a:xfrm>
          <a:prstGeom prst="roundRect">
            <a:avLst>
              <a:gd name="adj" fmla="val 704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7209947" y="2526804"/>
            <a:ext cx="4143569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b="1" spc="-168" kern="100" dirty="0">
                <a:solidFill>
                  <a:srgbClr val="12304A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$157,890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7209947" y="3300809"/>
            <a:ext cx="4143569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Male customers generated the majority of observed revenue.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209947" y="4114800"/>
            <a:ext cx="4143569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 leads category revenue at approximately </a:t>
            </a:r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$90K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followed by accessories at approximately </a:t>
            </a:r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$70K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209947" y="5152330"/>
            <a:ext cx="4143569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Use category scale to prioritize merchandising and campaign investment.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074123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Young adults lead revenue, while express shipping signals higher spend</a:t>
            </a:r>
            <a:endParaRPr lang="en-US" sz="3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" y="2264271"/>
            <a:ext cx="6349841" cy="33035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987" y="5637709"/>
            <a:ext cx="637018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E5A5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Revenue by age group · USD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35257" y="1724124"/>
            <a:ext cx="4246853" cy="4676676"/>
          </a:xfrm>
          <a:prstGeom prst="roundRect">
            <a:avLst>
              <a:gd name="adj" fmla="val 763"/>
            </a:avLst>
          </a:prstGeom>
          <a:solidFill>
            <a:srgbClr val="12304A"/>
          </a:solidFill>
          <a:ln/>
        </p:spPr>
      </p:sp>
      <p:sp>
        <p:nvSpPr>
          <p:cNvPr id="7" name="Text 4"/>
          <p:cNvSpPr/>
          <p:nvPr/>
        </p:nvSpPr>
        <p:spPr>
          <a:xfrm>
            <a:off x="7563851" y="2593181"/>
            <a:ext cx="3789665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b="1" spc="-168" kern="100" dirty="0">
                <a:solidFill>
                  <a:srgbClr val="E8EFF4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$60.48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7563851" y="3367187"/>
            <a:ext cx="3789665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Express-shipping orders averaged more than Standard.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563851" y="4181177"/>
            <a:ext cx="3789665" cy="1350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75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averaged </a:t>
            </a:r>
            <a:pPr algn="l" indent="0" marL="0">
              <a:lnSpc>
                <a:spcPct val="121000"/>
              </a:lnSpc>
              <a:spcAft>
                <a:spcPts val="75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$58.46</a:t>
            </a:r>
            <a:pPr algn="l" indent="0" marL="0">
              <a:lnSpc>
                <a:spcPct val="121000"/>
              </a:lnSpc>
              <a:spcAft>
                <a:spcPts val="75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convenience-led offers toward higher-value segments and fulfillment moments.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8000"/>
            <a:ext cx="6959426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signals point to a focused merchandising story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585" y="3302198"/>
            <a:ext cx="3327317" cy="2500511"/>
          </a:xfrm>
          <a:prstGeom prst="roundRect">
            <a:avLst>
              <a:gd name="adj" fmla="val 1295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3854648"/>
            <a:ext cx="287012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Top-rated products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38179" y="4321969"/>
            <a:ext cx="287012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Gloves </a:t>
            </a:r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3.86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Sandals </a:t>
            </a:r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3.84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Boots </a:t>
            </a:r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3.82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Hat </a:t>
            </a:r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3.80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Skirt </a:t>
            </a:r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3.78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241694" y="3302198"/>
            <a:ext cx="3327317" cy="2500511"/>
          </a:xfrm>
          <a:prstGeom prst="roundRect">
            <a:avLst>
              <a:gd name="adj" fmla="val 1295"/>
            </a:avLst>
          </a:prstGeom>
          <a:solidFill>
            <a:srgbClr val="12304A"/>
          </a:solidFill>
          <a:ln/>
        </p:spPr>
      </p:sp>
      <p:sp>
        <p:nvSpPr>
          <p:cNvPr id="7" name="Text 5"/>
          <p:cNvSpPr/>
          <p:nvPr/>
        </p:nvSpPr>
        <p:spPr>
          <a:xfrm>
            <a:off x="4470288" y="3854648"/>
            <a:ext cx="287012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Category leaders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470288" y="4321969"/>
            <a:ext cx="2870128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Jewelry in Accessories · Blouse in Clothing · Sandals in Footwear · Jacket in Outerwear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9585" y="5955109"/>
            <a:ext cx="6959426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E5A5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Feature high-rated products in campaigns, then use category leaders as conversion anchors.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602" y="0"/>
            <a:ext cx="4267093" cy="6858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949401" y="2978348"/>
            <a:ext cx="647684" cy="647700"/>
          </a:xfrm>
          <a:prstGeom prst="ellipse">
            <a:avLst/>
          </a:prstGeom>
          <a:solidFill>
            <a:srgbClr val="12304A"/>
          </a:solidFill>
          <a:ln/>
        </p:spPr>
      </p:sp>
      <p:sp>
        <p:nvSpPr>
          <p:cNvPr id="12" name="Shape 9"/>
          <p:cNvSpPr/>
          <p:nvPr/>
        </p:nvSpPr>
        <p:spPr>
          <a:xfrm>
            <a:off x="5581510" y="2978348"/>
            <a:ext cx="647684" cy="647700"/>
          </a:xfrm>
          <a:prstGeom prst="ellipse">
            <a:avLst/>
          </a:prstGeom>
          <a:solidFill>
            <a:srgbClr val="12304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5C7080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074123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Discounting is a lever, but some products may be over-dependent on it</a:t>
            </a:r>
            <a:endParaRPr lang="en-US" sz="3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" y="2138065"/>
            <a:ext cx="6984825" cy="355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987" y="5763915"/>
            <a:ext cx="707789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3E5A5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Highest discount rates by product · percent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043066" y="1724124"/>
            <a:ext cx="3539044" cy="4676676"/>
          </a:xfrm>
          <a:prstGeom prst="roundRect">
            <a:avLst>
              <a:gd name="adj" fmla="val 915"/>
            </a:avLst>
          </a:prstGeom>
          <a:solidFill>
            <a:srgbClr val="2F6B9A"/>
          </a:solidFill>
          <a:ln/>
        </p:spPr>
      </p:sp>
      <p:sp>
        <p:nvSpPr>
          <p:cNvPr id="7" name="Text 4"/>
          <p:cNvSpPr/>
          <p:nvPr/>
        </p:nvSpPr>
        <p:spPr>
          <a:xfrm>
            <a:off x="8271660" y="2180729"/>
            <a:ext cx="3081856" cy="104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Promotion can coexist with strong basket value.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271660" y="3341390"/>
            <a:ext cx="3081856" cy="2602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75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High-spending discount users show that promotion can coexist with strong basket value.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discount depth by product and test margin-aware targeting instead of broad markdowns.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8000"/>
            <a:ext cx="6705432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Turn existing loyalty into higher recurring value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12680" y="2264073"/>
            <a:ext cx="101597" cy="921941"/>
          </a:xfrm>
          <a:prstGeom prst="rect">
            <a:avLst/>
          </a:prstGeom>
          <a:solidFill>
            <a:srgbClr val="2F6B9A"/>
          </a:solidFill>
          <a:ln/>
        </p:spPr>
      </p:sp>
      <p:sp>
        <p:nvSpPr>
          <p:cNvPr id="4" name="Text 2"/>
          <p:cNvSpPr/>
          <p:nvPr/>
        </p:nvSpPr>
        <p:spPr>
          <a:xfrm>
            <a:off x="1346166" y="2092623"/>
            <a:ext cx="5968851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2304A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Convert repeat buyers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46166" y="2559943"/>
            <a:ext cx="596885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437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loyal and returning customers a clear subscription reason.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2680" y="3186013"/>
            <a:ext cx="101597" cy="1175841"/>
          </a:xfrm>
          <a:prstGeom prst="rect">
            <a:avLst/>
          </a:prstGeom>
          <a:solidFill>
            <a:srgbClr val="2F6B9A"/>
          </a:solidFill>
          <a:ln/>
        </p:spPr>
      </p:sp>
      <p:sp>
        <p:nvSpPr>
          <p:cNvPr id="7" name="Text 5"/>
          <p:cNvSpPr/>
          <p:nvPr/>
        </p:nvSpPr>
        <p:spPr>
          <a:xfrm>
            <a:off x="1346166" y="3268563"/>
            <a:ext cx="5968851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2304A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Protect margin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46166" y="3735884"/>
            <a:ext cx="596885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437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 deeper discounts for products with a measurable response.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2680" y="4361954"/>
            <a:ext cx="101597" cy="1175841"/>
          </a:xfrm>
          <a:prstGeom prst="rect">
            <a:avLst/>
          </a:prstGeom>
          <a:solidFill>
            <a:srgbClr val="2F6B9A"/>
          </a:solidFill>
          <a:ln/>
        </p:spPr>
      </p:sp>
      <p:sp>
        <p:nvSpPr>
          <p:cNvPr id="10" name="Text 8"/>
          <p:cNvSpPr/>
          <p:nvPr/>
        </p:nvSpPr>
        <p:spPr>
          <a:xfrm>
            <a:off x="1346166" y="4444504"/>
            <a:ext cx="5968851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2304A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Personalize campaigns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46166" y="4911824"/>
            <a:ext cx="5968851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437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with clothing, accessories, young adults, and express-shipping moments.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2680" y="5537895"/>
            <a:ext cx="101597" cy="254000"/>
          </a:xfrm>
          <a:prstGeom prst="rect">
            <a:avLst/>
          </a:prstGeom>
          <a:solidFill>
            <a:srgbClr val="2F6B9A"/>
          </a:solidFill>
          <a:ln/>
        </p:spPr>
      </p:sp>
      <p:sp>
        <p:nvSpPr>
          <p:cNvPr id="13" name="Text 11"/>
          <p:cNvSpPr/>
          <p:nvPr/>
        </p:nvSpPr>
        <p:spPr>
          <a:xfrm>
            <a:off x="1346166" y="5620445"/>
            <a:ext cx="5968851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2304A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Merchandise proof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46166" y="6087765"/>
            <a:ext cx="5968851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437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Spotlight top-rated products and category leaders.</a:t>
            </a:r>
            <a:endParaRPr lang="en-US" sz="17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09585" y="2010073"/>
            <a:ext cx="507987" cy="508000"/>
          </a:xfrm>
          <a:prstGeom prst="ellipse">
            <a:avLst/>
          </a:prstGeom>
          <a:solidFill>
            <a:srgbClr val="FFFFFF"/>
          </a:solidFill>
          <a:ln w="50799">
            <a:solidFill>
              <a:srgbClr val="2F6B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8811" y="2137073"/>
            <a:ext cx="71912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09585" y="3186013"/>
            <a:ext cx="507987" cy="508000"/>
          </a:xfrm>
          <a:prstGeom prst="ellipse">
            <a:avLst/>
          </a:prstGeom>
          <a:solidFill>
            <a:srgbClr val="FFFFFF"/>
          </a:solidFill>
          <a:ln w="50799">
            <a:solidFill>
              <a:srgbClr val="2F6B9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3511" y="3313013"/>
            <a:ext cx="76962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09585" y="4361954"/>
            <a:ext cx="507987" cy="508000"/>
          </a:xfrm>
          <a:prstGeom prst="ellipse">
            <a:avLst/>
          </a:prstGeom>
          <a:solidFill>
            <a:srgbClr val="FFFFFF"/>
          </a:solidFill>
          <a:ln w="50799">
            <a:solidFill>
              <a:srgbClr val="2F6B9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527" y="4488954"/>
            <a:ext cx="77358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09585" y="5537895"/>
            <a:ext cx="507987" cy="508000"/>
          </a:xfrm>
          <a:prstGeom prst="ellipse">
            <a:avLst/>
          </a:prstGeom>
          <a:noFill/>
          <a:ln w="50799">
            <a:solidFill>
              <a:srgbClr val="BCCD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657" y="5664895"/>
            <a:ext cx="78142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5C7080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074123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2304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Recommended next moves for the business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7987" y="2392164"/>
            <a:ext cx="3488146" cy="4008636"/>
          </a:xfrm>
          <a:prstGeom prst="roundRect">
            <a:avLst>
              <a:gd name="adj" fmla="val 92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36582" y="2620764"/>
            <a:ext cx="838179" cy="838200"/>
          </a:xfrm>
          <a:prstGeom prst="roundRect">
            <a:avLst>
              <a:gd name="adj" fmla="val 3864"/>
            </a:avLst>
          </a:prstGeom>
          <a:solidFill>
            <a:srgbClr val="12304A"/>
          </a:solidFill>
          <a:ln/>
        </p:spPr>
      </p:sp>
      <p:sp>
        <p:nvSpPr>
          <p:cNvPr id="6" name="Text 4"/>
          <p:cNvSpPr/>
          <p:nvPr/>
        </p:nvSpPr>
        <p:spPr>
          <a:xfrm>
            <a:off x="1087113" y="2877939"/>
            <a:ext cx="746602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736582" y="3545384"/>
            <a:ext cx="3030958" cy="19050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8" name="Text 6"/>
          <p:cNvSpPr/>
          <p:nvPr/>
        </p:nvSpPr>
        <p:spPr>
          <a:xfrm>
            <a:off x="736582" y="3793034"/>
            <a:ext cx="303095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Test subscription value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36582" y="4260354"/>
            <a:ext cx="303095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a subscription value test with exclusive benefits for loyal customers.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00926" y="2392164"/>
            <a:ext cx="3488146" cy="4008636"/>
          </a:xfrm>
          <a:prstGeom prst="roundRect">
            <a:avLst>
              <a:gd name="adj" fmla="val 928"/>
            </a:avLst>
          </a:prstGeom>
          <a:solidFill>
            <a:srgbClr val="12304A"/>
          </a:solidFill>
          <a:ln/>
        </p:spPr>
      </p:sp>
      <p:sp>
        <p:nvSpPr>
          <p:cNvPr id="11" name="Shape 9"/>
          <p:cNvSpPr/>
          <p:nvPr/>
        </p:nvSpPr>
        <p:spPr>
          <a:xfrm>
            <a:off x="4529520" y="2620764"/>
            <a:ext cx="838179" cy="838200"/>
          </a:xfrm>
          <a:prstGeom prst="roundRect">
            <a:avLst>
              <a:gd name="adj" fmla="val 3864"/>
            </a:avLst>
          </a:prstGeom>
          <a:solidFill>
            <a:srgbClr val="12304A"/>
          </a:solidFill>
          <a:ln/>
        </p:spPr>
      </p:sp>
      <p:sp>
        <p:nvSpPr>
          <p:cNvPr id="12" name="Text 10"/>
          <p:cNvSpPr/>
          <p:nvPr/>
        </p:nvSpPr>
        <p:spPr>
          <a:xfrm>
            <a:off x="4847707" y="2877939"/>
            <a:ext cx="811391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4529520" y="3545384"/>
            <a:ext cx="3030958" cy="19050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29520" y="3793034"/>
            <a:ext cx="3030958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Manage promotion by margin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529520" y="4607024"/>
            <a:ext cx="3030958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margin-aware promotion dashboard for discount-dependent products.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93865" y="2392164"/>
            <a:ext cx="3488246" cy="4008636"/>
          </a:xfrm>
          <a:prstGeom prst="roundRect">
            <a:avLst>
              <a:gd name="adj" fmla="val 928"/>
            </a:avLst>
          </a:prstGeom>
          <a:solidFill>
            <a:srgbClr val="2F6B9A"/>
          </a:solidFill>
          <a:ln/>
        </p:spPr>
      </p:sp>
      <p:sp>
        <p:nvSpPr>
          <p:cNvPr id="17" name="Shape 15"/>
          <p:cNvSpPr/>
          <p:nvPr/>
        </p:nvSpPr>
        <p:spPr>
          <a:xfrm>
            <a:off x="8322459" y="2620764"/>
            <a:ext cx="838179" cy="838200"/>
          </a:xfrm>
          <a:prstGeom prst="roundRect">
            <a:avLst>
              <a:gd name="adj" fmla="val 3864"/>
            </a:avLst>
          </a:prstGeom>
          <a:solidFill>
            <a:srgbClr val="12304A"/>
          </a:solidFill>
          <a:ln/>
        </p:spPr>
      </p:sp>
      <p:sp>
        <p:nvSpPr>
          <p:cNvPr id="18" name="Text 16"/>
          <p:cNvSpPr/>
          <p:nvPr/>
        </p:nvSpPr>
        <p:spPr>
          <a:xfrm>
            <a:off x="8638463" y="2877939"/>
            <a:ext cx="815657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8322459" y="3545384"/>
            <a:ext cx="3030958" cy="19050"/>
          </a:xfrm>
          <a:prstGeom prst="rect">
            <a:avLst/>
          </a:prstGeom>
          <a:solidFill>
            <a:srgbClr val="12304A"/>
          </a:solidFill>
          <a:ln/>
        </p:spPr>
      </p:sp>
      <p:sp>
        <p:nvSpPr>
          <p:cNvPr id="20" name="Text 18"/>
          <p:cNvSpPr/>
          <p:nvPr/>
        </p:nvSpPr>
        <p:spPr>
          <a:xfrm>
            <a:off x="8322459" y="3793034"/>
            <a:ext cx="3031057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Make performance weekly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322459" y="4607024"/>
            <a:ext cx="3031057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Power BI view as the shared weekly operating rhythm for category, age, shipping, and subscription performance.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2026-10-05T11:49:25Z</dcterms:created>
  <dcterms:modified xsi:type="dcterms:W3CDTF">2026-10-05T11:49:25Z</dcterms:modified>
</cp:coreProperties>
</file>